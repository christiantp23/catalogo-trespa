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92024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09" y="777240"/>
            <a:ext cx="1183341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103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Trespa Store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Online de Sneakers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4206240"/>
            <a:ext cx="274320" cy="27432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344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sistema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Ecommerce | React 19 + TypeScript + Supabase |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723376" y="768096"/>
            <a:ext cx="2761488" cy="4076036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10" name="Image 1" descr="Vista mobile de la tienda Trespa St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822960"/>
            <a:ext cx="2651760" cy="39663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39496" y="1554480"/>
            <a:ext cx="502920" cy="50292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16736" y="1554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39496" y="2331720"/>
            <a:ext cx="502920" cy="50292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16736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Pública (Desktop)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39496" y="3108960"/>
            <a:ext cx="502920" cy="50292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16736" y="31089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Pública (Mobile)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39496" y="3886200"/>
            <a:ext cx="502920" cy="50292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16736" y="38862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39496" y="4663440"/>
            <a:ext cx="502920" cy="50292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9496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16736" y="46634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539496" y="5440680"/>
            <a:ext cx="502920" cy="50292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9496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16736" y="54406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7589520" y="1463040"/>
            <a:ext cx="4059936" cy="4480560"/>
          </a:xfrm>
          <a:prstGeom prst="roundRect">
            <a:avLst>
              <a:gd name="adj" fmla="val 450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24" name="Image 1" descr="Logo Trespa St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2331720"/>
            <a:ext cx="2743200" cy="11658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863840" y="4480560"/>
            <a:ext cx="3511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ecommerce para venta de sneakers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39496" y="150114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3544" y="1463040"/>
            <a:ext cx="7022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online 100% operativa: </a:t>
            </a:r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+ Tailwind CSS 4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39496" y="2433828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3544" y="2395728"/>
            <a:ext cx="7022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escalable: </a:t>
            </a:r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autenticación + storage de imágenes)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39496" y="3366516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23544" y="3328416"/>
            <a:ext cx="7022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negocio: </a:t>
            </a:r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Dropshipping, sin stock propio. Cierre de ventas por WhatsApp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39496" y="4299204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23544" y="4261104"/>
            <a:ext cx="7022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propio: </a:t>
            </a:r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pestañas (Productos, Ventas, Configuración, Testimonios)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39496" y="5231892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" y="5193792"/>
            <a:ext cx="7022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en producción: </a:t>
            </a:r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en Netlify, relanzamiento planeado para octubre de 2026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321040" y="1463040"/>
            <a:ext cx="3328416" cy="1298448"/>
          </a:xfrm>
          <a:prstGeom prst="roundRect">
            <a:avLst>
              <a:gd name="adj" fmla="val 10563"/>
            </a:avLst>
          </a:prstGeom>
          <a:solidFill>
            <a:srgbClr val="1E2568"/>
          </a:solidFill>
          <a:ln w="12700">
            <a:solidFill>
              <a:srgbClr val="1E256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03920" y="1554480"/>
            <a:ext cx="1188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17" name="Text 14"/>
          <p:cNvSpPr txBox="1"/>
          <p:nvPr/>
        </p:nvSpPr>
        <p:spPr>
          <a:xfrm>
            <a:off x="9646920" y="1554480"/>
            <a:ext cx="1874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 en el panel de administración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321040" y="2944368"/>
            <a:ext cx="3328416" cy="1298448"/>
          </a:xfrm>
          <a:prstGeom prst="roundRect">
            <a:avLst>
              <a:gd name="adj" fmla="val 10563"/>
            </a:avLst>
          </a:prstGeom>
          <a:solidFill>
            <a:srgbClr val="1E2568"/>
          </a:solidFill>
          <a:ln w="12700">
            <a:solidFill>
              <a:srgbClr val="1E256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03920" y="3035808"/>
            <a:ext cx="1188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9646920" y="3035808"/>
            <a:ext cx="1874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Supabase, todas con RLS activo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321040" y="4425696"/>
            <a:ext cx="3328416" cy="1298448"/>
          </a:xfrm>
          <a:prstGeom prst="roundRect">
            <a:avLst>
              <a:gd name="adj" fmla="val 10563"/>
            </a:avLst>
          </a:prstGeom>
          <a:solidFill>
            <a:srgbClr val="1E2568"/>
          </a:solidFill>
          <a:ln w="12700">
            <a:solidFill>
              <a:srgbClr val="1E256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03920" y="4517136"/>
            <a:ext cx="1188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23" name="Text 20"/>
          <p:cNvSpPr txBox="1"/>
          <p:nvPr/>
        </p:nvSpPr>
        <p:spPr>
          <a:xfrm>
            <a:off x="9646920" y="4517136"/>
            <a:ext cx="1874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propio: modelo de encargo con proveedores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Sistema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39496" y="1554480"/>
            <a:ext cx="3520440" cy="4206240"/>
          </a:xfrm>
          <a:prstGeom prst="roundRect">
            <a:avLst>
              <a:gd name="adj" fmla="val 519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1874520"/>
            <a:ext cx="868680" cy="868680"/>
          </a:xfrm>
          <a:prstGeom prst="ellipse">
            <a:avLst/>
          </a:prstGeom>
          <a:solidFill>
            <a:srgbClr val="1E2568"/>
          </a:solidFill>
          <a:ln w="12700">
            <a:solidFill>
              <a:srgbClr val="1E2568"/>
            </a:solidFill>
            <a:prstDash val="solid"/>
          </a:ln>
        </p:spPr>
      </p:sp>
      <p:pic>
        <p:nvPicPr>
          <p:cNvPr id="7" name="Image 1" descr="Seguridad HTT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1031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9536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HTTP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859536" y="354330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243584" y="3520440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A+ (Mozilla Observatory)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59536" y="4256532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243584" y="4233672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en la base de datos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59536" y="4969764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243584" y="4946904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Supabase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335628" y="1554480"/>
            <a:ext cx="3520440" cy="4206240"/>
          </a:xfrm>
          <a:prstGeom prst="roundRect">
            <a:avLst>
              <a:gd name="adj" fmla="val 519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55668" y="1874520"/>
            <a:ext cx="868680" cy="868680"/>
          </a:xfrm>
          <a:prstGeom prst="ellipse">
            <a:avLst/>
          </a:prstGeom>
          <a:solidFill>
            <a:srgbClr val="1E2568"/>
          </a:solidFill>
          <a:ln w="12700">
            <a:solidFill>
              <a:srgbClr val="1E2568"/>
            </a:solidFill>
            <a:prstDash val="solid"/>
          </a:ln>
        </p:spPr>
      </p:sp>
      <p:pic>
        <p:nvPicPr>
          <p:cNvPr id="17" name="Image 2" descr="Test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268" y="21031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55668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4655668" y="354330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039716" y="3520440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automatizada con Playwright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4655668" y="4256532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039716" y="4233672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end-to-end del checkout y del panel admin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8131759" y="1554480"/>
            <a:ext cx="3520440" cy="4206240"/>
          </a:xfrm>
          <a:prstGeom prst="roundRect">
            <a:avLst>
              <a:gd name="adj" fmla="val 519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451799" y="1874520"/>
            <a:ext cx="868680" cy="868680"/>
          </a:xfrm>
          <a:prstGeom prst="ellipse">
            <a:avLst/>
          </a:prstGeom>
          <a:solidFill>
            <a:srgbClr val="1E2568"/>
          </a:solidFill>
          <a:ln w="12700">
            <a:solidFill>
              <a:srgbClr val="1E2568"/>
            </a:solidFill>
            <a:prstDash val="solid"/>
          </a:ln>
        </p:spPr>
      </p:sp>
      <p:pic>
        <p:nvPicPr>
          <p:cNvPr id="25" name="Image 3" descr="Performa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0399" y="210312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451799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8451799" y="354330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835847" y="3520440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optimizadas a WebP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8451799" y="4256532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835847" y="4233672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diferida del panel admin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8451799" y="4969764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835847" y="4946904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Lighthouse en progreso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Pública | Vista Desktop (Inicio)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84632" y="1316736"/>
            <a:ext cx="3584448" cy="361973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6" name="Image 1" descr="Inicio de la tienda: Hero y catá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371600"/>
            <a:ext cx="3474720" cy="351001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9496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y catálogo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303624" y="1316736"/>
            <a:ext cx="3584448" cy="361973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9" name="Image 2" descr="Inicio de la tienda: Confianza y testimoni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488" y="1371600"/>
            <a:ext cx="3474720" cy="351001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58488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y testimonios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122615" y="1316736"/>
            <a:ext cx="3584448" cy="361973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12" name="Image 3" descr="Inicio de la tienda: Contacto y foo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479" y="1371600"/>
            <a:ext cx="3474720" cy="351001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177479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y footer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539496" y="5486400"/>
            <a:ext cx="111127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inicio con hero full-screen, CTA principal, sección de confianza (Calidad/Envío/Atención), testimonios de clientes y footer (una sola captura de página completa, dividida en tres tramos).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Pública | Catálogo y Filtros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84632" y="1728216"/>
            <a:ext cx="5413248" cy="3092958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6" name="Image 1" descr="Catálogo de productos en desk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783080"/>
            <a:ext cx="5303520" cy="298323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93815" y="1728216"/>
            <a:ext cx="5413248" cy="3092958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8" name="Image 2" descr="Panel de filtros en desk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783080"/>
            <a:ext cx="5303520" cy="298323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39496" y="5029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responsive con búsqueda, filtros por género/marca/precio (slider), 1 producto de prueba disponible.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6348679" y="5029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filtros fijo (desktop): permite refinar la búsqueda por género, marca y rango de precio.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Pública | Detalle de Producto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950976" y="1316736"/>
            <a:ext cx="2221603" cy="4864608"/>
          </a:xfrm>
          <a:prstGeom prst="roundRect">
            <a:avLst>
              <a:gd name="adj" fmla="val 2470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6" name="Image 1" descr="Ficha de producto con selector de color y ta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2111875" cy="4754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846320" y="14173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producto completa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4846320" y="2148840"/>
            <a:ext cx="566928" cy="566928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pic>
        <p:nvPicPr>
          <p:cNvPr id="9" name="Image 2" descr="Fotos con zo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229514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623560" y="214884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con zoom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4846320" y="2926080"/>
            <a:ext cx="566928" cy="566928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pic>
        <p:nvPicPr>
          <p:cNvPr id="12" name="Image 3" descr="Selección de color y talla (EUR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07238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623560" y="292608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color y talla (EUR)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4846320" y="3703320"/>
            <a:ext cx="566928" cy="566928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pic>
        <p:nvPicPr>
          <p:cNvPr id="15" name="Image 4" descr="Agregar al carrito con un toqu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384962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623560" y="370332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al carrito con un toque</a:t>
            </a:r>
            <a:endParaRPr lang="en-US" sz="1800" dirty="0"/>
          </a:p>
        </p:txBody>
      </p:sp>
      <p:sp>
        <p:nvSpPr>
          <p:cNvPr id="17" name="Shape 10"/>
          <p:cNvSpPr/>
          <p:nvPr/>
        </p:nvSpPr>
        <p:spPr>
          <a:xfrm>
            <a:off x="4846320" y="4480560"/>
            <a:ext cx="566928" cy="566928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pic>
        <p:nvPicPr>
          <p:cNvPr id="18" name="Image 5" descr="Compartir por WhatsApp direc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4626864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623560" y="44805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por WhatsApp directo</a:t>
            </a:r>
            <a:endParaRPr lang="en-US" sz="1800" dirty="0"/>
          </a:p>
        </p:txBody>
      </p:sp>
      <p:sp>
        <p:nvSpPr>
          <p:cNvPr id="20" name="Text 12"/>
          <p:cNvSpPr txBox="1"/>
          <p:nvPr/>
        </p:nvSpPr>
        <p:spPr>
          <a:xfrm>
            <a:off x="4846320" y="53492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producto completa: fotos con zoom, selección de color y talla (EUR), agregar al carrito y compartir por WhatsApp directo. Las tallas agotadas se muestran bloqueadas.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Pública | Carrito y Checkout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39496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Carrito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622999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Checkout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" y="1591056"/>
            <a:ext cx="5138928" cy="2938653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8" name="Image 1" descr="Carrito lateral con productos agreg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645920"/>
            <a:ext cx="5029200" cy="28289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68135" y="1591056"/>
            <a:ext cx="5138928" cy="4431697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10" name="Image 2" descr="Formulario de checkout con datos de ejempl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999" y="1645920"/>
            <a:ext cx="5029200" cy="432196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39496" y="4892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compra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con productos agregados → formulario de checkout con validación (celular colombiano y cédula) → envío del pedido por WhatsApp para cerrar la venta.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Pública | Vista Mobile (390x844)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76072" y="1316736"/>
            <a:ext cx="2212848" cy="325542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6" name="Image 1" descr="Hero y catálogo en mob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371600"/>
            <a:ext cx="2103120" cy="31456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9496" y="5669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044952" y="1316736"/>
            <a:ext cx="2117900" cy="4270248"/>
          </a:xfrm>
          <a:prstGeom prst="roundRect">
            <a:avLst>
              <a:gd name="adj" fmla="val 2590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9" name="Image 2" descr="Ficha de producto en mob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1371600"/>
            <a:ext cx="2008172" cy="41605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008376" y="5669280"/>
            <a:ext cx="21910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18884" y="1316736"/>
            <a:ext cx="2212848" cy="3690425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12" name="Image 3" descr="Checkout en mobi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48" y="1371600"/>
            <a:ext cx="2103120" cy="358069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382308" y="5669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795528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mobile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7955280" y="213360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339328" y="210312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 responsiva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7955280" y="277368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8339328" y="274320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flotante de filtros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955280" y="341376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339328" y="338328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accesibles al tacto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955280" y="405384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339328" y="402336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con las mismas validaciones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955280" y="4800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completamente responsiva en móviles: todos los controles accesibles y optimizados para pantalla táctil.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| 4 Pestañas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84632" y="1499616"/>
            <a:ext cx="5961888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6" name="Image 1" descr="Pantalla de login del panel de administra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554480"/>
            <a:ext cx="5852160" cy="3291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seguro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858000" y="20116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email y contraseña. La sesión se renueva automáticamente: no hace falta volver a autenticarse cada hora.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858000" y="32918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040880" y="3410712"/>
            <a:ext cx="219456" cy="21945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24928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0" y="3858768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040880" y="3977640"/>
            <a:ext cx="219456" cy="21945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24928" y="3858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0" y="4425696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40880" y="4544568"/>
            <a:ext cx="219456" cy="21945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24928" y="44256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858000" y="4992624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40880" y="5111496"/>
            <a:ext cx="219456" cy="21945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24928" y="49926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Testimonios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| Productos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84632" y="1362456"/>
            <a:ext cx="7333488" cy="4173093"/>
          </a:xfrm>
          <a:prstGeom prst="roundRect">
            <a:avLst>
              <a:gd name="adj" fmla="val 1315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6" name="Image 1" descr="Pestaña Productos del panel adm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417320"/>
            <a:ext cx="7223760" cy="40633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9496" y="5623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catálogo: crear, editar, duplicar y archivar productos, cargar colores y tallas en EUR, búsqueda y filtros.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183880" y="153924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67928" y="150876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editar, duplicar y archivar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183880" y="240792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567928" y="237744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y tallas en EUR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83880" y="327660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67928" y="324612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filtros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83880" y="414528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67928" y="411480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costo interno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83880" y="501396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567928" y="498348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cambios por producto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| Ventas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84632" y="1362456"/>
            <a:ext cx="7333488" cy="4173093"/>
          </a:xfrm>
          <a:prstGeom prst="roundRect">
            <a:avLst>
              <a:gd name="adj" fmla="val 1315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6" name="Image 1" descr="Pestaña Ventas del panel adm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417320"/>
            <a:ext cx="7223760" cy="40633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9496" y="5623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ventas: resumen financiero (hoy/semana/mes, ticket promedio, margen estimado) y lista de pedidos con estado Pendiente, Confirmada o Cancelada.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183880" y="153924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67928" y="150876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hoy, semana y mes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183880" y="240792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567928" y="237744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 y margen estimado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83880" y="327660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67928" y="324612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Estados: Pendiente / Confirmada / Cancelada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83880" y="414528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67928" y="411480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de pago por orden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83880" y="501396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567928" y="498348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 CSV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| Configuración y Testimonios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416166" y="1316736"/>
            <a:ext cx="3496692" cy="3721608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6" name="Image 1" descr="Pestaña Configuración del panel adm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030" y="1371600"/>
            <a:ext cx="3386964" cy="3611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51771" y="1316736"/>
            <a:ext cx="5423758" cy="3721608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8" name="Image 2" descr="Pestaña Testimonios del panel adm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635" y="1371600"/>
            <a:ext cx="5314030" cy="36118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71030" y="5166360"/>
            <a:ext cx="33869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redes, horarios y modo mantenimiento.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5406635" y="5166360"/>
            <a:ext cx="53140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Agregar, reordenar y eliminar testimonios con foto o video.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39496" y="5989320"/>
            <a:ext cx="98325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del sitio sin tocar código + gestión de testimonios de clientes.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39496" y="1325880"/>
            <a:ext cx="5373472" cy="2377440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3816" y="1581912"/>
            <a:ext cx="548640" cy="548640"/>
          </a:xfrm>
          <a:prstGeom prst="ellipse">
            <a:avLst/>
          </a:prstGeom>
          <a:solidFill>
            <a:srgbClr val="1E2568"/>
          </a:solidFill>
          <a:ln w="12700">
            <a:solidFill>
              <a:srgbClr val="1E2568"/>
            </a:solidFill>
            <a:prstDash val="solid"/>
          </a:ln>
        </p:spPr>
      </p:sp>
      <p:pic>
        <p:nvPicPr>
          <p:cNvPr id="7" name="Image 1" descr="Front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71907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45336" y="1581912"/>
            <a:ext cx="409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813816" y="225552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197864" y="2240280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13816" y="2602992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97864" y="2587752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(build rápido)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3816" y="2950464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197864" y="2935224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3816" y="3297936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197864" y="3282696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(iconografía)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78728" y="1325880"/>
            <a:ext cx="5373472" cy="2377440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53048" y="1581912"/>
            <a:ext cx="548640" cy="548640"/>
          </a:xfrm>
          <a:prstGeom prst="ellipse">
            <a:avLst/>
          </a:prstGeom>
          <a:solidFill>
            <a:srgbClr val="1E2568"/>
          </a:solidFill>
          <a:ln w="12700">
            <a:solidFill>
              <a:srgbClr val="1E2568"/>
            </a:solidFill>
            <a:prstDash val="solid"/>
          </a:ln>
        </p:spPr>
      </p:sp>
      <p:pic>
        <p:nvPicPr>
          <p:cNvPr id="19" name="Image 2" descr="Backe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8" y="171907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84568" y="1581912"/>
            <a:ext cx="409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553048" y="225552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937096" y="2240280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Auth + Storage)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553048" y="2602992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937096" y="2587752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(Row Level Security) en todas las tablas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553048" y="2950464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937096" y="2935224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SQL personalizadas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39496" y="3904488"/>
            <a:ext cx="5373472" cy="2377440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13816" y="4160520"/>
            <a:ext cx="548640" cy="548640"/>
          </a:xfrm>
          <a:prstGeom prst="ellipse">
            <a:avLst/>
          </a:prstGeom>
          <a:solidFill>
            <a:srgbClr val="1E2568"/>
          </a:solidFill>
          <a:ln w="12700">
            <a:solidFill>
              <a:srgbClr val="1E2568"/>
            </a:solidFill>
            <a:prstDash val="solid"/>
          </a:ln>
        </p:spPr>
      </p:sp>
      <p:pic>
        <p:nvPicPr>
          <p:cNvPr id="29" name="Image 3" descr="Hosting &amp; DevOp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29768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545336" y="4160520"/>
            <a:ext cx="409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DevOps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813816" y="4834128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197864" y="4818888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(en pausa, se reactiva en octubre 2026)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13816" y="518160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197864" y="5166360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(repositorio del código)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813816" y="5529072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1197864" y="5513832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(testing automatizado)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6278728" y="3904488"/>
            <a:ext cx="5373472" cy="2377440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553048" y="4160520"/>
            <a:ext cx="548640" cy="548640"/>
          </a:xfrm>
          <a:prstGeom prst="ellipse">
            <a:avLst/>
          </a:prstGeom>
          <a:solidFill>
            <a:srgbClr val="1E2568"/>
          </a:solidFill>
          <a:ln w="12700">
            <a:solidFill>
              <a:srgbClr val="1E2568"/>
            </a:solidFill>
            <a:prstDash val="solid"/>
          </a:ln>
        </p:spPr>
      </p:sp>
      <p:pic>
        <p:nvPicPr>
          <p:cNvPr id="39" name="Image 4" descr="Herramienta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208" y="4297680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284568" y="4160520"/>
            <a:ext cx="409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2000" dirty="0"/>
          </a:p>
        </p:txBody>
      </p:sp>
      <p:sp>
        <p:nvSpPr>
          <p:cNvPr id="41" name="Shape 34"/>
          <p:cNvSpPr/>
          <p:nvPr/>
        </p:nvSpPr>
        <p:spPr>
          <a:xfrm>
            <a:off x="6553048" y="4834128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937096" y="4818888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para build y desarrollo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6553048" y="5181600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937096" y="5166360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para seguridad de tipos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553048" y="5529072"/>
            <a:ext cx="182880" cy="18288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937096" y="5513832"/>
            <a:ext cx="444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para estilos escalables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| Estructura Supabase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15/17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371600"/>
          <a:ext cx="11112703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86623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de sneakers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colorways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Colores disponibles por producto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Tallas (EUR) por 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Solicitudes de pedido desde checkout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order_items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de cada orden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admin_users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blanca de administradores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site_settings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(WhatsApp, Telegram, banner, etc.)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testimonials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Testimonios de clientes con fotos/videos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product_costs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 costo interno por producto (solo admin)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product_history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 de cambios de 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39496" y="5577840"/>
            <a:ext cx="98325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RLS activo en todas las tablas. Lectura pública solo del catálogo y la configuración; los pedidos se crean desde el checkout público y solo el administrador puede leerlos y modificarlos.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(Roadmap)</a:t>
            </a:r>
            <a:endParaRPr lang="en-US" sz="3200" dirty="0"/>
          </a:p>
        </p:txBody>
      </p:sp>
      <p:pic>
        <p:nvPicPr>
          <p:cNvPr id="3" name="Image 0" descr="Logo Trespa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434" y="457200"/>
            <a:ext cx="1075765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37799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39496" y="1417320"/>
            <a:ext cx="11112703" cy="658368"/>
          </a:xfrm>
          <a:prstGeom prst="roundRect">
            <a:avLst>
              <a:gd name="adj" fmla="val 208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2376" y="1517904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7" name="Image 1" descr="Complet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36776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62456" y="141732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Decisión plan pago (Netlify / Vercel Pro) — antes del 11 de octubre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9823399" y="1572768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823399" y="15727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39496" y="2203704"/>
            <a:ext cx="11112703" cy="658368"/>
          </a:xfrm>
          <a:prstGeom prst="roundRect">
            <a:avLst>
              <a:gd name="adj" fmla="val 208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22376" y="2304288"/>
            <a:ext cx="457200" cy="45720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pic>
        <p:nvPicPr>
          <p:cNvPr id="13" name="Image 2" descr="En progres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2316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62456" y="22037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Reactivar hosting en Netlify y verificar URLs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9823399" y="2359152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823399" y="23591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39496" y="2990088"/>
            <a:ext cx="11112703" cy="658368"/>
          </a:xfrm>
          <a:prstGeom prst="roundRect">
            <a:avLst>
              <a:gd name="adj" fmla="val 208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22376" y="3090672"/>
            <a:ext cx="457200" cy="457200"/>
          </a:xfrm>
          <a:prstGeom prst="ellipse">
            <a:avLst/>
          </a:prstGeom>
          <a:solidFill>
            <a:srgbClr val="C6C6C6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19" name="Image 3" descr="Pendien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209544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62456" y="299008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Cargar catálogo real desde el panel (arranca vacío a propósito)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9823399" y="3145536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E3E5EB"/>
          </a:solidFill>
          <a:ln w="12700">
            <a:solidFill>
              <a:srgbClr val="E3E5E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823399" y="314553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39496" y="3776472"/>
            <a:ext cx="11112703" cy="658368"/>
          </a:xfrm>
          <a:prstGeom prst="roundRect">
            <a:avLst>
              <a:gd name="adj" fmla="val 208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22376" y="3877056"/>
            <a:ext cx="457200" cy="457200"/>
          </a:xfrm>
          <a:prstGeom prst="ellipse">
            <a:avLst/>
          </a:prstGeom>
          <a:solidFill>
            <a:srgbClr val="C6C6C6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25" name="Image 4" descr="Pendien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995928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62456" y="377647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Confirmar métricas Lighthouse (Performance, Accesibilidad, SEO)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823399" y="393192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E3E5EB"/>
          </a:solidFill>
          <a:ln w="12700">
            <a:solidFill>
              <a:srgbClr val="E3E5E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9823399" y="3931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39496" y="4562856"/>
            <a:ext cx="11112703" cy="658368"/>
          </a:xfrm>
          <a:prstGeom prst="roundRect">
            <a:avLst>
              <a:gd name="adj" fmla="val 208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22376" y="4663440"/>
            <a:ext cx="457200" cy="457200"/>
          </a:xfrm>
          <a:prstGeom prst="ellipse">
            <a:avLst/>
          </a:prstGeom>
          <a:solidFill>
            <a:srgbClr val="C6C6C6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31" name="Image 5" descr="Pendien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78231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362456" y="456285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Anunciar en redes sociales + activar Google Analytics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9823399" y="4718304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E3E5EB"/>
          </a:solidFill>
          <a:ln w="12700">
            <a:solidFill>
              <a:srgbClr val="E3E5EB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823399" y="47183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39496" y="5349240"/>
            <a:ext cx="11112703" cy="658368"/>
          </a:xfrm>
          <a:prstGeom prst="roundRect">
            <a:avLst>
              <a:gd name="adj" fmla="val 208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22376" y="5449824"/>
            <a:ext cx="457200" cy="457200"/>
          </a:xfrm>
          <a:prstGeom prst="ellipse">
            <a:avLst/>
          </a:prstGeom>
          <a:solidFill>
            <a:srgbClr val="C6C6C6"/>
          </a:solidFill>
          <a:ln w="12700">
            <a:solidFill>
              <a:srgbClr val="C6C6C6"/>
            </a:solidFill>
            <a:prstDash val="solid"/>
          </a:ln>
        </p:spPr>
      </p:sp>
      <p:pic>
        <p:nvPicPr>
          <p:cNvPr id="37" name="Image 6" descr="Pendien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5568696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362456" y="53492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Integración Bold (pasarela de pago) — evaluándose</a:t>
            </a:r>
            <a:endParaRPr lang="en-US" sz="1600" dirty="0"/>
          </a:p>
        </p:txBody>
      </p:sp>
      <p:sp>
        <p:nvSpPr>
          <p:cNvPr id="39" name="Shape 30"/>
          <p:cNvSpPr/>
          <p:nvPr/>
        </p:nvSpPr>
        <p:spPr>
          <a:xfrm>
            <a:off x="9823399" y="5504688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E3E5EB"/>
          </a:solidFill>
          <a:ln w="12700">
            <a:solidFill>
              <a:srgbClr val="E3E5EB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9823399" y="55046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Trespa Store — Listo para Crecer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ecommerce sólido, seguro y escalable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4206240"/>
            <a:ext cx="274320" cy="27432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sistema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moderno | Testing automatizado | Panel admin intuitivo | Roadmap claro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Trespa Store — Presentación del Sistema</dc:title>
  <dc:subject>PptxGenJS Presentation</dc:subject>
  <dc:creator>Trespa Store</dc:creator>
  <cp:lastModifiedBy>Trespa Store</cp:lastModifiedBy>
  <cp:revision>1</cp:revision>
  <dcterms:created xsi:type="dcterms:W3CDTF">2026-09-24T18:12:35Z</dcterms:created>
  <dcterms:modified xsi:type="dcterms:W3CDTF">2026-09-24T18:12:35Z</dcterms:modified>
</cp:coreProperties>
</file>